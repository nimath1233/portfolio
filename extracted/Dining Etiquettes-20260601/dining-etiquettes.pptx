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8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535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38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B2B4B">
              <a:alpha val="50000"/>
            </a:srgbClr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"/>
            <a:ext cx="3200400" cy="3200400"/>
          </a:xfrm>
          <a:prstGeom prst="ellipse">
            <a:avLst/>
          </a:prstGeom>
          <a:solidFill>
            <a:srgbClr val="243654">
              <a:alpha val="70000"/>
            </a:srgbClr>
          </a:solidFill>
          <a:ln w="6350">
            <a:solidFill>
              <a:srgbClr val="C996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DINING ETIQUETTE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400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TABLE MANNERS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r>
              <a:rPr lang="en-US" sz="1600" i="1" smtClean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Needs </a:t>
            </a:r>
            <a:r>
              <a:rPr lang="en-US" sz="1600" i="1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Know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3657600" cy="0"/>
          </a:xfrm>
          <a:prstGeom prst="line">
            <a:avLst/>
          </a:prstGeom>
          <a:noFill/>
          <a:ln w="19050">
            <a:solidFill>
              <a:srgbClr val="C996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Casual Eats to Fine Dining — Confidence at Every 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Essential Life Skills Workshop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0096"/>
            <a:ext cx="9144000" cy="10515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Dining Etiquette Matters in 2025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51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73152" cy="150876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344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B4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⭐  First Impressions Count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4632" y="16916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shows it takes just 7 seconds to form a first </a:t>
            </a:r>
            <a:r>
              <a:rPr lang="en-US" sz="140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impression </a:t>
            </a:r>
            <a:r>
              <a:rPr lang="en-US" sz="140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dining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confidently sets you apart in interviews, dates, and family events.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251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34440"/>
            <a:ext cx="73152" cy="150876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344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B4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💼  Career &amp; Academic Edge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65192" y="16916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meals are increasingly common. Teens who master dining etiquette are better prepared for internships, college interviews, and networking events.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4251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26080"/>
            <a:ext cx="73152" cy="150876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035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B4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🌍  Cultural Awareness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" y="33832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Understanding table manners shows respect for diverse cultures and backgrounds — a critical 21st-century skill in our globalised world.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00600" y="2926080"/>
            <a:ext cx="4251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926080"/>
            <a:ext cx="73152" cy="150876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035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smtClean="0">
                <a:solidFill>
                  <a:srgbClr val="1B2B4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Mutual </a:t>
            </a:r>
            <a:r>
              <a:rPr lang="en-US" sz="1600" b="1" dirty="0">
                <a:solidFill>
                  <a:srgbClr val="1B2B4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Respect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65192" y="33832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Good table manners reflect respect for your host, fellow diners, and the effort behind every meal. It transforms eating into a social experience.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Table Setting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274320" y="1234440"/>
            <a:ext cx="2651760" cy="3657600"/>
          </a:xfrm>
          <a:prstGeom prst="rect">
            <a:avLst/>
          </a:prstGeom>
          <a:solidFill>
            <a:srgbClr val="243654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Rules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9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Rule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039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 (left), Meal (center), Water (right)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9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28163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utensils from the outermost inward with each course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9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Napkin First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5935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Unfold napkin onto lap as soon as seated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9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Position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3708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&amp; knife crossed on plate = still eating</a:t>
            </a:r>
            <a:endParaRPr lang="en-US" sz="10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2" y="969168"/>
            <a:ext cx="6935168" cy="41058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hold the wine glass</a:t>
            </a:r>
            <a:endParaRPr lang="en-US" sz="2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143000"/>
            <a:ext cx="3909060" cy="3909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60" y="1186145"/>
            <a:ext cx="3683035" cy="368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377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Art of the Napkin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977640" cy="3657600"/>
          </a:xfrm>
          <a:prstGeom prst="rect">
            <a:avLst/>
          </a:prstGeom>
          <a:solidFill>
            <a:srgbClr val="E8F5E9"/>
          </a:solidFill>
          <a:ln w="635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DO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on your lap as soon as you sit (fold half if large)</a:t>
            </a:r>
            <a:endParaRPr lang="en-US" sz="16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corner to dab — never wipe — your mouth</a:t>
            </a:r>
            <a:endParaRPr lang="en-US" sz="16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 chair if leaving temporarily</a:t>
            </a:r>
            <a:endParaRPr lang="en-US" sz="16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loosely folded to LEFT of plate when meal ends</a:t>
            </a:r>
            <a:endParaRPr lang="en-US" sz="16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 discreetly remove food from mouth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251960" cy="3657600"/>
          </a:xfrm>
          <a:prstGeom prst="rect">
            <a:avLst/>
          </a:prstGeom>
          <a:solidFill>
            <a:srgbClr val="FEECEC"/>
          </a:solidFill>
          <a:ln w="635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2984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DON'T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Tuck into collar or waistband</a:t>
            </a:r>
            <a:endParaRPr lang="en-US" sz="16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it around or shake it open dramatically</a:t>
            </a:r>
            <a:endParaRPr lang="en-US" sz="16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blow your nose at the table</a:t>
            </a:r>
            <a:endParaRPr lang="en-US" sz="16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on the table until the meal is completely over</a:t>
            </a:r>
            <a:endParaRPr lang="en-US" sz="16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it crumpled or balled up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 with Confidence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109728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73152" cy="109728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9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12984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the full menu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" y="16642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sections — appetizers, mains, sides, desserts — before deciding. Know the price range so your order is appropriate for the occasion.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206240" cy="109728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88720"/>
            <a:ext cx="73152" cy="109728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9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94960" y="12984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order first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19472" y="16642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host or eldest person order first. This also gives you time to gauge portion sizes and the formality of the meal.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43257"/>
            <a:ext cx="4206240" cy="109728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423160"/>
            <a:ext cx="73152" cy="109728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9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60120" y="25328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 clearly to the server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" y="28986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'I'd like...' not 'Gimme...' Use please and thank you. Make eye contact. Close your menu when ready to signal you've decided.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4206240" cy="109728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423160"/>
            <a:ext cx="73152" cy="109728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9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94960" y="25328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course count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19472" y="28986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at a formal dinner, order the same number of courses as others. Don't be the only one who skips a course — it rushes others.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657600"/>
            <a:ext cx="4206240" cy="109728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657600"/>
            <a:ext cx="73152" cy="109728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749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9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60120" y="37673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Dietary needs — handle privately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4632" y="41330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the server early and quietly about allergies or dietary restrictions. Avoid making it a topic at the table unless asked.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206240" cy="109728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657600"/>
            <a:ext cx="73152" cy="109728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749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9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394960" y="37673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negotiate the menu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919472" y="41330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making excessive substitutions or asking for 'off-menu' items unless you have a real need. Keep special requests to a minimum.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Posture, Body Language &amp; Personal Space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834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533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Sit up straight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Back slightly away from the chair back. No slumping. Both feet flat on the floor.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834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3533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💪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06908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Elbows off the 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18470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Wrists or forearms may rest on the table between courses, but not elbows while eating.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46520" y="1188720"/>
            <a:ext cx="2834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13533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3232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Phone goes away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18470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 2025, phone use at the table (even under it) is widely considered disrespectful. Face down or in your bag.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2834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2735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3273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Eye contact &amp; engagement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376732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person speaking. Nod and respond. Staring at your plate signals disinterest.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3108960"/>
            <a:ext cx="2834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20440" y="32735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70625" y="328229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Chew with mouth closed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20440" y="376732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Always. No exceptions. Take smaller bites to make conversation easier during meals.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46520" y="3108960"/>
            <a:ext cx="2834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0" y="32735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🛑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32320" y="3273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No reaching across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0" y="376732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Ask someone to pass the dish. Reaching across others is invasive and risks knocking things over.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Utensil Mastery — How to Hold &amp; Use Cutlery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3657600"/>
          </a:xfrm>
          <a:prstGeom prst="rect">
            <a:avLst/>
          </a:prstGeom>
          <a:solidFill>
            <a:srgbClr val="1B2B4B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0" y="1188720"/>
            <a:ext cx="4114800" cy="3657600"/>
          </a:xfrm>
          <a:prstGeom prst="rect">
            <a:avLst/>
          </a:prstGeom>
          <a:solidFill>
            <a:srgbClr val="1B2B4B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🇺🇸  American Style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504691"/>
            <a:ext cx="3794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Fork in left, knife in right. After cutting, switch fork to right hand to eat.
</a:t>
            </a:r>
            <a:r>
              <a:rPr lang="en-US" sz="1400" b="1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Index finger on the spine of the knife, not wrapped around the handle.
</a:t>
            </a:r>
            <a:r>
              <a:rPr lang="en-US" sz="1400" b="1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(still eating)</a:t>
            </a: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Fork (tines up) and knife in an inverted 'V' or crossed on plate.
</a:t>
            </a:r>
            <a:r>
              <a:rPr lang="en-US" sz="1400" b="1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</a:t>
            </a: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Both utensils parallel, at 4 o'clock position, tines up.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🇬🇧  Continental/European Style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28032" y="1507404"/>
            <a:ext cx="3794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&amp; eat without switching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Fork stays in left hand (tines down), knife in right throughout.
</a:t>
            </a:r>
            <a:r>
              <a:rPr lang="en-US" sz="1400" b="1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Manoeuvre food</a:t>
            </a: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Use knife to guide food onto the back of the fork.
</a:t>
            </a:r>
            <a:r>
              <a:rPr lang="en-US" sz="1400" b="1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(still eating)</a:t>
            </a: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Fork tines down, knife and fork in an X on the plate.
</a:t>
            </a:r>
            <a:r>
              <a:rPr lang="en-US" sz="1400" b="1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</a:t>
            </a: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Both utensils parallel, tines down, handles at 4 o'clock.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Both styles are acceptable — choose one and be consistent throughout the meal.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Eating Technique &amp; Pace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325880"/>
            <a:ext cx="347472" cy="347472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 until everyone is served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127101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Don't begin eating until the host starts or signals everyone to begin. In formal settings, wait for the host to pick up their fork.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8503920" cy="566928"/>
          </a:xfrm>
          <a:prstGeom prst="rect">
            <a:avLst/>
          </a:prstGeom>
          <a:solidFill>
            <a:srgbClr val="F0EDE8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1965960"/>
            <a:ext cx="347472" cy="347472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920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bites only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191109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Cut food into bite-sized pieces one at a time — don't cut the whole portion at once (American exception for children). Eat slowly and deliberately.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" y="2606040"/>
            <a:ext cx="347472" cy="347472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Chew before talking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255117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Never talk with food in your mouth. Take small bites that allow you to speak when needed. A good meal is also a good conversation.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8503920" cy="566928"/>
          </a:xfrm>
          <a:prstGeom prst="rect">
            <a:avLst/>
          </a:prstGeom>
          <a:solidFill>
            <a:srgbClr val="F0EDE8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" y="3246120"/>
            <a:ext cx="347472" cy="347472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slurp or blow on hot food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319125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Wait for it to cool. Tilting your soup bowl away from you (to spoon the last drops) is acceptable at formal settings.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3794760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" y="3886200"/>
            <a:ext cx="347472" cy="347472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Bread: tear, don't cut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46120" y="383133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Break bread into small pieces before buttering. Butter only the piece you're about to eat — don't butter the whole slice.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0040" y="4434840"/>
            <a:ext cx="8503920" cy="566928"/>
          </a:xfrm>
          <a:prstGeom prst="rect">
            <a:avLst/>
          </a:prstGeom>
          <a:solidFill>
            <a:srgbClr val="F0EDE8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4526280"/>
            <a:ext cx="347472" cy="347472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4526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4480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Pace yourself with others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46120" y="447141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Try to eat at a similar pace to your tablemates. Finishing first or last can make others feel uncomfortable.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Talk — The Art of Dining Conversation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3611880"/>
          </a:xfrm>
          <a:prstGeom prst="rect">
            <a:avLst/>
          </a:prstGeom>
          <a:solidFill>
            <a:srgbClr val="1E3A2A"/>
          </a:solidFill>
          <a:ln w="6350">
            <a:solidFill>
              <a:srgbClr val="2E5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7BC4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GREAT Topics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Hobbies and shared interests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experiences and aspirations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films, music, podcasts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projects or achievements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events and community news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'what would you rather' questions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Complimenting the food or setting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251960" cy="3611880"/>
          </a:xfrm>
          <a:prstGeom prst="rect">
            <a:avLst/>
          </a:prstGeom>
          <a:solidFill>
            <a:srgbClr val="3A1E1E"/>
          </a:solidFill>
          <a:ln w="6350">
            <a:solidFill>
              <a:srgbClr val="5A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2984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E07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AVOID These Topics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09160" y="173736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Money, salaries, or costs of items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Controversial politics or religion (unless close family)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people's appearance or weight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medical or bodily topics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Complaining about the food or host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 or talking about absent people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or confrontational debate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When in doubt — ask questions and be a great listener. People love talking about themselves!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📱  Phone-Free Tables — Digital Dining Etiquette (2025)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Phone Stack Game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trend — everyone stacks their phones face-down in the center. First to check theirs pays or does the dishes!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325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🔕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068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Silence &amp; Pocket Rule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7373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on silent and kept away from the table — bag, pocket, or purse. Not on the table, even face-down.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51460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2651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Photography Etiquette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must photograph food, do so quickly and discreetly before eating. No elaborate setups or multiple shots while others wait.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51460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0680" y="2651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 Emergencies Only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0632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expecting a critical call, inform your tablemates at the start. Excuse yourself from the table to take calls.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84048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977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👀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3977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Scrolling Under the Table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notice. It signals boredom and disrespect. If you're bored, engage — ask someone a question.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84048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977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40680" y="3977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Chats Can Wait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3891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group messages during a meal is avoidable. The people in front of you deserve your full attention.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kern="0" spc="60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Informal Dining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Restaurants, Friends' Homes &amp; Casual Meals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Relaxed doesn't mean rules-free — it means being gracious without rigidity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Casual Restaurant Manners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519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73152" cy="117043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00000"/>
                </a:solidFill>
              </a:rPr>
              <a:t>🚶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51560" y="1298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 to be seated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casual spots, wait for a host to seat you. Don't just pick any table or wander around.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2519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73152" cy="117043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984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86400" y="1298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menu yourself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37760" y="17556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ask the server to explain every item. If something is unfamiliar, search discreetly or ask one specific question.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542032"/>
            <a:ext cx="42519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42032"/>
            <a:ext cx="73152" cy="117043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00000"/>
                </a:solidFill>
              </a:rPr>
              <a:t>🙌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051560" y="2651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servers with respect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292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are professionals. Say please, thank you, make eye contact, and don't snap fingers or wave to get attention.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542032"/>
            <a:ext cx="42519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542032"/>
            <a:ext cx="73152" cy="117043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486400" y="2651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 plates myth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3776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helpful at home, but in restaurants avoid stacking dirty plates — it's the server's job and can be seen as presumptuous.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858768"/>
            <a:ext cx="42519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858768"/>
            <a:ext cx="73152" cy="117043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9684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00000"/>
                </a:solidFill>
              </a:rPr>
              <a:t>💳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051560" y="39684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 to pay or split fairly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2920" y="44256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dining with friends, discuss splitting before ordering. If someone treated you, acknowledge it and offer to treat next time.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3858768"/>
            <a:ext cx="42519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858768"/>
            <a:ext cx="73152" cy="117043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9684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00000"/>
                </a:solidFill>
              </a:rPr>
              <a:t>⭐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5486400" y="39684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appropriate tips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37760" y="44256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 many countries is 10-20% for good service. Learn the local custom wherever you dine.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Dining at Someone's Home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374904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53312"/>
            <a:ext cx="8503920" cy="411480"/>
          </a:xfrm>
          <a:prstGeom prst="rect">
            <a:avLst/>
          </a:prstGeom>
          <a:solidFill>
            <a:srgbClr val="1E2E46">
              <a:alpha val="80000"/>
            </a:srgbClr>
          </a:solidFill>
          <a:ln w="12700">
            <a:solidFill>
              <a:srgbClr val="1E2E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44752"/>
            <a:ext cx="201168" cy="201168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990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on time — not early (disruptive) or more than 10 min late (inconsiderate)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83664"/>
            <a:ext cx="201168" cy="201168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3794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something: a dessert, flowers, or a small gift for the host — it's a thoughtful gesture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231136"/>
            <a:ext cx="8503920" cy="411480"/>
          </a:xfrm>
          <a:prstGeom prst="rect">
            <a:avLst/>
          </a:prstGeom>
          <a:solidFill>
            <a:srgbClr val="1E2E46">
              <a:alpha val="80000"/>
            </a:srgbClr>
          </a:solidFill>
          <a:ln w="12700">
            <a:solidFill>
              <a:srgbClr val="1E2E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22576"/>
            <a:ext cx="201168" cy="201168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768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Compliment the food even if it isn't your favourite — acknowledge the effort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61488"/>
            <a:ext cx="201168" cy="201168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7157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what's served. Avoid saying 'I don't like this' — try a polite small portion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108960"/>
            <a:ext cx="8503920" cy="411480"/>
          </a:xfrm>
          <a:prstGeom prst="rect">
            <a:avLst/>
          </a:prstGeom>
          <a:solidFill>
            <a:srgbClr val="1E2E46">
              <a:alpha val="80000"/>
            </a:srgbClr>
          </a:solidFill>
          <a:ln w="12700">
            <a:solidFill>
              <a:srgbClr val="1E2E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00400"/>
            <a:ext cx="201168" cy="201168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1546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to help clear or set up but don't insist if declined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39312"/>
            <a:ext cx="201168" cy="201168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935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before using facilities and be respectful of their home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986784"/>
            <a:ext cx="8503920" cy="411480"/>
          </a:xfrm>
          <a:prstGeom prst="rect">
            <a:avLst/>
          </a:prstGeom>
          <a:solidFill>
            <a:srgbClr val="1E2E46">
              <a:alpha val="80000"/>
            </a:srgbClr>
          </a:solidFill>
          <a:ln w="12700">
            <a:solidFill>
              <a:srgbClr val="1E2E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78224"/>
            <a:ext cx="201168" cy="201168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03250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the host personally before leaving — a follow-up text the same day is a bonus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17136"/>
            <a:ext cx="201168" cy="201168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47141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arrive hungry and rush the meal — it's about fellowship, not just food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Food &amp; Casual Eateries — Yes, Manners Still Matter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519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07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3075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up after yourself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 of wrappers, trays, and cups. Don't leave messes for staff. Most fast food is self-service for a reason.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2519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307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📢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0680" y="13075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Indoor voice always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75564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laughing, shouting, or blasting music from your phone affects other patrons. Be mindful of shared public spaces.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542032"/>
            <a:ext cx="42519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6609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💺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26609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hog tables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finished, leave promptly, especially during busy hours. Don't camp at a table when others are waiting.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542032"/>
            <a:ext cx="42519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6609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0680" y="26609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properly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10896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your turn, don't cut in line, and don't hover over people who haven't finished ordering yet.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858768"/>
            <a:ext cx="42519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977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🍟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3977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etiquette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42569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before stealing fries! Ask before taking food off someone else's tray. It's about consent even in casual settings.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858768"/>
            <a:ext cx="42519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977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🚿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40680" y="3977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Hygiene first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42569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 hands before eating. Use napkins. Don't lick fingers and then handle shared condiment dispensers.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kern="0" spc="60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Dining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Dining, Banquets &amp; Special Occasions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confidence meets occasion — navigate any formal table with grace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Arriving, Seating &amp; First Impressions at Formal Events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118872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73152" cy="118872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984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298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Arrive 5–10 minutes early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" y="171907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events start on time. Arriving late disrupts seating, service, and the host's plan. Never arrive early either.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206240" cy="118872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88720"/>
            <a:ext cx="73152" cy="118872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2984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👗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1298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Dress appropriately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19472" y="171907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dress code in advance: Black Tie, Smart Casual, Business Formal. When in doubt, dress slightly more formally.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4206240" cy="118872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14600"/>
            <a:ext cx="73152" cy="118872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6243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🪑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2624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seat yourself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" y="304495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host, usher, or escort card to guide where you sit. Assigned seating is deliberate.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514600"/>
            <a:ext cx="4206240" cy="118872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514600"/>
            <a:ext cx="73152" cy="118872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6243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🤵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2624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ladies and seniors sit first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19472" y="304495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chair for others and wait until the most senior guest is seated before sitting yourself.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840480"/>
            <a:ext cx="4206240" cy="118872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840480"/>
            <a:ext cx="73152" cy="118872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9502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👜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3950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 &amp; coat protocol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4632" y="437083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Bags go on the floor — never on the table or the empty chair beside you. Coats go to the cloakroom.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840480"/>
            <a:ext cx="4206240" cy="118872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840480"/>
            <a:ext cx="73152" cy="118872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9502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📇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40680" y="3950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cards &amp; escort cards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919472" y="437083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Escort cards at the door show your table number. Table cards at the place setting show your exact seat. Follow both.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Navigating a Multi-Course Formal Meal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411480" cy="41148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63B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Amuse-Bouche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16002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bite-sized intro from the chef. Eat in one bite. No sharing or cutting.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206240" cy="777240"/>
          </a:xfrm>
          <a:prstGeom prst="rect">
            <a:avLst/>
          </a:prstGeom>
          <a:solidFill>
            <a:srgbClr val="F0EDE8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63B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9240" y="1261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Appetiser / Starter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49240" y="16002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yourself — don't finish too fast. Use outermost fork. Bread may be served now.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75688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258568"/>
            <a:ext cx="411480" cy="41148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63B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24871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 away from you. Tilt bowl away. Sip from side of spoon — don't slurp.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075688"/>
            <a:ext cx="4206240" cy="777240"/>
          </a:xfrm>
          <a:prstGeom prst="rect">
            <a:avLst/>
          </a:prstGeom>
          <a:solidFill>
            <a:srgbClr val="F0EDE8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258568"/>
            <a:ext cx="411480" cy="41148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63B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 Course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49240" y="24871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fish fork and knife (if separate). Set aside any garnish not intended to eat.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962656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145536"/>
            <a:ext cx="411480" cy="41148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145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63B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035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Sorbet / Intermezzo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33741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palate cleanser between courses. Eat slowly with the small spoon provided.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962656"/>
            <a:ext cx="4206240" cy="777240"/>
          </a:xfrm>
          <a:prstGeom prst="rect">
            <a:avLst/>
          </a:prstGeom>
          <a:solidFill>
            <a:srgbClr val="F0EDE8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145536"/>
            <a:ext cx="411480" cy="41148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145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63B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3035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/ Entrée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49240" y="33741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centrepiece of the meal. Take time, enjoy, and don't rush. Match pace with others.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849624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4032504"/>
            <a:ext cx="411480" cy="41148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032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63B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39227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Cheese Board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14400" y="42611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2–3 small pieces. Use the provided knife. Don't touch multiple cheeses with the same knife.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849624"/>
            <a:ext cx="4206240" cy="777240"/>
          </a:xfrm>
          <a:prstGeom prst="rect">
            <a:avLst/>
          </a:prstGeom>
          <a:solidFill>
            <a:srgbClr val="F0EDE8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4032504"/>
            <a:ext cx="411480" cy="41148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032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63B"/>
                </a:solidFill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39227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Dessert &amp; Coffee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349240" y="42611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dessert spoon or fork above your plate. Coffee is typically the very last item served.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Beverage Etiquette at Formal Tables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1170432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73152" cy="1170432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801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Toasting Protocol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71907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if others do. Hold your glass at the stem (not the bowl). Maintain eye contact when clinking. Sip after the toast — don't drain the glass.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206240" cy="1170432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88720"/>
            <a:ext cx="73152" cy="1170432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2801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🍷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 Glasses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171907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red wine glasses by the bowl (to warm), white and rosé by the stem (to keep cool). Never fill more than halfway.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542032"/>
            <a:ext cx="4206240" cy="1170432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42032"/>
            <a:ext cx="73152" cy="1170432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6334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💧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2633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Comes First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3072384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water glass is typically top right. Sip water throughout the meal to cleanse your palate between courses.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542032"/>
            <a:ext cx="4206240" cy="1170432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542032"/>
            <a:ext cx="73152" cy="1170432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6334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2633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 &amp; Coffee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3072384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spoon on saucer after stirring — don't leave it in the cup. Don't slurp. Milk before or after tea is a personal choice — both are fine.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877056"/>
            <a:ext cx="4206240" cy="1170432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877056"/>
            <a:ext cx="73152" cy="1170432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9684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🚫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39684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Underage? No Problem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" y="4407408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Politely decline alcohol with 'No thank you' — no lengthy explanation needed. Request sparkling water or juice as an elegant alternative.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877056"/>
            <a:ext cx="4206240" cy="1170432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877056"/>
            <a:ext cx="73152" cy="1170432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9684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🫗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40680" y="39684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Refill Etiquette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9472" y="4407408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refill your own glass at a hosted dinner — wait for staff. If at a casual dinner, pour for others before yourself.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Awkward Situations Gracefully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25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🤢  Food you hate lands on your plate?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122529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tiny portion, move it around, and don't make a scene. A polite 'I'll try everything' usually suffices.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234440"/>
            <a:ext cx="0" cy="475488"/>
          </a:xfrm>
          <a:prstGeom prst="line">
            <a:avLst/>
          </a:prstGeom>
          <a:noFill/>
          <a:ln w="15240">
            <a:solidFill>
              <a:srgbClr val="C996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28800"/>
            <a:ext cx="8503920" cy="566928"/>
          </a:xfrm>
          <a:prstGeom prst="rect">
            <a:avLst/>
          </a:prstGeom>
          <a:solidFill>
            <a:srgbClr val="F0EDE8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65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🍴  Dropped a utensil?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186537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 ask for a replacement. Don't pick it up off the floor and continue using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1874520"/>
            <a:ext cx="0" cy="475488"/>
          </a:xfrm>
          <a:prstGeom prst="line">
            <a:avLst/>
          </a:prstGeom>
          <a:noFill/>
          <a:ln w="15240">
            <a:solidFill>
              <a:srgbClr val="C996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468880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😬  Food stuck in your teeth?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50545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Excuse yourself to the restroom discreetly. Never pick your teeth at the table.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2514600"/>
            <a:ext cx="0" cy="475488"/>
          </a:xfrm>
          <a:prstGeom prst="line">
            <a:avLst/>
          </a:prstGeom>
          <a:noFill/>
          <a:ln w="15240">
            <a:solidFill>
              <a:srgbClr val="C996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108960"/>
            <a:ext cx="8503920" cy="566928"/>
          </a:xfrm>
          <a:prstGeom prst="rect">
            <a:avLst/>
          </a:prstGeom>
          <a:solidFill>
            <a:srgbClr val="F0EDE8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45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🤧  Need to cough or sneeze?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314553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with your elbow, not your hands. Excuse yourself briefly. A handkerchief is ideal at formal settings.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3154680"/>
            <a:ext cx="0" cy="475488"/>
          </a:xfrm>
          <a:prstGeom prst="line">
            <a:avLst/>
          </a:prstGeom>
          <a:noFill/>
          <a:ln w="15240">
            <a:solidFill>
              <a:srgbClr val="C996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749040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85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💸  Can't afford something on the menu?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378561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Diplomatically choose a mid-range item. It's not appropriate to ask the host about prices — choose based on the occasion.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0" y="3794760"/>
            <a:ext cx="0" cy="475488"/>
          </a:xfrm>
          <a:prstGeom prst="line">
            <a:avLst/>
          </a:prstGeom>
          <a:noFill/>
          <a:ln w="15240">
            <a:solidFill>
              <a:srgbClr val="C996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389120"/>
            <a:ext cx="8503920" cy="566928"/>
          </a:xfrm>
          <a:prstGeom prst="rect">
            <a:avLst/>
          </a:prstGeom>
          <a:solidFill>
            <a:srgbClr val="F0EDE8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256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🍽️  Spilled something?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442569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Calmly blot with your napkin — don't rub. Alert the server quietly. Apologise briefly and move on without over-dramatising.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0" y="4434840"/>
            <a:ext cx="0" cy="475488"/>
          </a:xfrm>
          <a:prstGeom prst="line">
            <a:avLst/>
          </a:prstGeom>
          <a:noFill/>
          <a:ln w="15240">
            <a:solidFill>
              <a:srgbClr val="C9963B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Dining — Cultural Differences Teens Should Know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118872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280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🇯🇵  Japan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" y="1691640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Slurping noodles is a compliment. Say 'Itadakimasu' before eating. Never stick chopsticks upright in rice.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206240" cy="118872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280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🇨🇳  China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1691640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food on your plate shows the host gave enough. Banging chopsticks is rude. Pouring tea for elders first is respectful.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487168"/>
            <a:ext cx="4206240" cy="118872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578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🇮🇳  India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" y="2990088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with your right hand only in traditional settings. Leaving a little food shows you're full. Remove shoes before entering a home.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487168"/>
            <a:ext cx="4206240" cy="118872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2578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🇫🇷  France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2990088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are long, multi-course affairs. Never ask for a doggy bag. Bread is for eating, not for soaking sauce until others do.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785616"/>
            <a:ext cx="4206240" cy="118872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8770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🇸🇦  Middle East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" y="4288536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all food offered — refusing is impolite. Eat with right hand. Never eat before the host signals.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785616"/>
            <a:ext cx="4206240" cy="1188720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8770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🇲🇽  Mexico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19472" y="4288536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 is often late (8–10 PM). Bringing a gift for the host is expected. Never turn down a dish without tasting.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GROUP ACTIVITY: The Dinner Party Challenge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5943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25–30 Minutes  |  👥 Groups </a:t>
            </a:r>
            <a:r>
              <a:rPr lang="en-US" sz="160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</a:t>
            </a:r>
            <a:r>
              <a:rPr lang="en-US" sz="1600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r>
              <a:rPr lang="en-US" sz="160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🎭 Role-play simulation — no props needed!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760" y="22128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attending a formal dinner at a prestigious award ceremony. Each group will simulate a dining experience from arrival to </a:t>
            </a:r>
            <a:r>
              <a:rPr lang="en-US" sz="14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farewell </a:t>
            </a:r>
            <a:r>
              <a:rPr lang="en-US" sz="1400" smtClean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all etiquette rules into practice!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(one per group member):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" y="3090672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" y="3154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smtClean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16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guests, direct seating, start the meal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3090672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64408" y="3154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smtClean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16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64408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all formal dining rules correctly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3090672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99048" y="3154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😬 The Blunderer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9048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make 3 etiquette mistakes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91640" y="3977640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01368" y="40416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smtClean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16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01368" y="43616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all mistakes and list them on paper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3977640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36008" y="40416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🍷 The Server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36008" y="43616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drinks, serve courses, respond to signals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Activity Continued — How It Works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804672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1234440" cy="804672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07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(3 min)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325880"/>
            <a:ext cx="6995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arrange chairs around a 'table'. Host assigns roles. Blunderer secretly picks 3 etiquette mistakes to make from a provided list.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21408"/>
            <a:ext cx="8503920" cy="804672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21408"/>
            <a:ext cx="1234440" cy="804672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94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50545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(10 min)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212848"/>
            <a:ext cx="6995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greets guests. Simulate arrival, seating, ordering, eating conversation, and farewell. Blunderer makes mistakes naturally throughout.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008376"/>
            <a:ext cx="8503920" cy="804672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008376"/>
            <a:ext cx="1234440" cy="804672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815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39242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Reports (5 min)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3099816"/>
            <a:ext cx="6995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presents the 3 mistakes they spotted. Group discusses — were there more? What should have happened instead?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895344"/>
            <a:ext cx="8503920" cy="804672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895344"/>
            <a:ext cx="1234440" cy="804672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6849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27939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Reflection (7 min)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3986784"/>
            <a:ext cx="6995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What surprised you? Which rule is hardest to follow? What will you do differently next time you dine out?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Winning group: the one where the Observer correctly spotted ALL 3 mistakes!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 Golden Rules — Memorise These!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320040" cy="320040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280160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away — always. No exceptions at the table.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325880"/>
            <a:ext cx="320040" cy="320040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1280160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BMW: Bread left, Meal centre, Water right.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892808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029968"/>
            <a:ext cx="320040" cy="320040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1984248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Napkin on lap the moment you sit.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892808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029968"/>
            <a:ext cx="320040" cy="320040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1984248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eating only when the host or everyone is served.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596896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734056"/>
            <a:ext cx="320040" cy="320040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734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2688336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Utensils outside in — follow the course progression.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596896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734056"/>
            <a:ext cx="320040" cy="320040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734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2688336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Chew silently, swallow before speaking.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300984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438144"/>
            <a:ext cx="320040" cy="320040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438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3392424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dishes to the right, ask before reaching.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300984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438144"/>
            <a:ext cx="320040" cy="320040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438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3392424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servers, hosts, and fellow diners with respect.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4005072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4142232"/>
            <a:ext cx="320040" cy="320040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142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8680" y="4096512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please and thank you — every single time.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4005072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4142232"/>
            <a:ext cx="320040" cy="320040"/>
          </a:xfrm>
          <a:prstGeom prst="ellipse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142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03520" y="4096512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with everyone at the table — be present, be kind.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Dining in 2025 — Modern Trends &amp; Evolving Norms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1170432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73152" cy="1170432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801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Awareness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71907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now polite to acknowledge and appreciate restaurants' sustainability practices. Being mindful of food waste is part of modern etiquette.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206240" cy="1170432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88720"/>
            <a:ext cx="73152" cy="1170432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2801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Dietary Inclusivity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171907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2025, hosts are expected to cater to dietary needs. As a guest, communicating needs in advance (not at the table) is now standard.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542032"/>
            <a:ext cx="4206240" cy="1170432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42032"/>
            <a:ext cx="73152" cy="1170432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633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Code Menus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3072384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restaurants now use digital menus. Etiquette: scan promptly, don't dither, don't use it as a screen during the meal.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542032"/>
            <a:ext cx="4206240" cy="1170432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542032"/>
            <a:ext cx="73152" cy="1170432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6334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2633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&amp; Digital Payments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3072384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like PayNow, Venmo, or Split bills are normal. Arrange this before the meal and don't make a production of who owes what.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877056"/>
            <a:ext cx="4206240" cy="1170432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877056"/>
            <a:ext cx="73152" cy="1170432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9684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📲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39684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Reviews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" y="4407408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review is great — but never while still at the table. Honest, constructive reviews are preferred over venting or excessive praise.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877056"/>
            <a:ext cx="4206240" cy="1170432"/>
          </a:xfrm>
          <a:prstGeom prst="rect">
            <a:avLst/>
          </a:prstGeom>
          <a:solidFill>
            <a:srgbClr val="1B2B4B"/>
          </a:solidFill>
          <a:ln w="6350">
            <a:solidFill>
              <a:srgbClr val="2A3D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877056"/>
            <a:ext cx="73152" cy="1170432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9684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smtClean="0">
                <a:solidFill>
                  <a:srgbClr val="000000"/>
                </a:solidFill>
              </a:rPr>
              <a:t>🍳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40680" y="39684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Chef's Table Culture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9472" y="4407408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kitchens and chef interactions are increasingly common. Thank the chef briefly if they visit your table — eye contact and a genuine smile suffice.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963B"/>
          </a:solidFill>
          <a:ln w="12700">
            <a:solidFill>
              <a:srgbClr val="C996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-731520"/>
            <a:ext cx="5029200" cy="5029200"/>
          </a:xfrm>
          <a:prstGeom prst="ellipse">
            <a:avLst/>
          </a:prstGeom>
          <a:solidFill>
            <a:srgbClr val="1B2B4B">
              <a:alpha val="60000"/>
            </a:srgbClr>
          </a:solidFill>
          <a:ln w="6350">
            <a:solidFill>
              <a:srgbClr val="C996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8A9B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Etiquette is not about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perfect —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8A9B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about making others feel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8B8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comfortable around you.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3657600" cy="0"/>
          </a:xfrm>
          <a:prstGeom prst="line">
            <a:avLst/>
          </a:prstGeom>
          <a:noFill/>
          <a:ln w="19050">
            <a:solidFill>
              <a:srgbClr val="C996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46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at every meal — formal or casual.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meal is a chance to build a habit that will serve you for life.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9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Bon Appétit</a:t>
            </a:r>
            <a:r>
              <a:rPr lang="en-US" sz="1800" b="1">
                <a:solidFill>
                  <a:srgbClr val="C99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 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3174</Words>
  <Application>Microsoft Office PowerPoint</Application>
  <PresentationFormat>On-screen Show (16:9)</PresentationFormat>
  <Paragraphs>379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Dining Etiquette for Teens</dc:title>
  <dc:subject>PptxGenJS Presentation</dc:subject>
  <dc:creator>Dining &amp; Manners Education</dc:creator>
  <cp:lastModifiedBy>Samudini  Nagasena</cp:lastModifiedBy>
  <cp:revision>6</cp:revision>
  <dcterms:created xsi:type="dcterms:W3CDTF">2026-04-29T12:08:33Z</dcterms:created>
  <dcterms:modified xsi:type="dcterms:W3CDTF">2026-04-30T10:40:34Z</dcterms:modified>
</cp:coreProperties>
</file>